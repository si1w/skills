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erriweather"/>
      <p:regular r:id="rId16"/>
      <p:bold r:id="rId17"/>
      <p:italic r:id="rId18"/>
      <p:boldItalic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11" Type="http://schemas.openxmlformats.org/officeDocument/2006/relationships/slide" Target="slides/slide6.xml"/><Relationship Id="rId22" Type="http://schemas.openxmlformats.org/officeDocument/2006/relationships/font" Target="fonts/DMSans-italic.fntdata"/><Relationship Id="rId10" Type="http://schemas.openxmlformats.org/officeDocument/2006/relationships/slide" Target="slides/slide5.xml"/><Relationship Id="rId21" Type="http://schemas.openxmlformats.org/officeDocument/2006/relationships/font" Target="fonts/DM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35f8dd289_1_10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35f8dd289_1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35f8dd289_1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35f8dd289_1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5f8dd289_36_0)">
  <p:cSld name="Generated (g3f35f8dd289_36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1028700" y="1184842"/>
            <a:ext cx="11121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Weekly Research Update</a:t>
            </a:r>
            <a:endParaRPr sz="100"/>
          </a:p>
        </p:txBody>
      </p:sp>
      <p:sp>
        <p:nvSpPr>
          <p:cNvPr id="86" name="Google Shape;86;p14"/>
          <p:cNvSpPr txBox="1"/>
          <p:nvPr/>
        </p:nvSpPr>
        <p:spPr>
          <a:xfrm>
            <a:off x="1028700" y="2752725"/>
            <a:ext cx="1059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Project</a:t>
            </a:r>
            <a:r>
              <a:rPr b="0" i="0" lang="en-US" sz="32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: [Current Project </a:t>
            </a:r>
            <a:r>
              <a:rPr lang="en-US" sz="32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Name</a:t>
            </a:r>
            <a:r>
              <a:rPr b="0" i="0" lang="en-US" sz="32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]</a:t>
            </a:r>
            <a:endParaRPr sz="2500"/>
          </a:p>
        </p:txBody>
      </p:sp>
      <p:sp>
        <p:nvSpPr>
          <p:cNvPr id="87" name="Google Shape;87;p14"/>
          <p:cNvSpPr txBox="1"/>
          <p:nvPr/>
        </p:nvSpPr>
        <p:spPr>
          <a:xfrm>
            <a:off x="1028700" y="4751027"/>
            <a:ext cx="10591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Researcher:</a:t>
            </a:r>
            <a:r>
              <a:rPr b="0" i="0" lang="en-US" sz="24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[Your Name]   |   </a:t>
            </a:r>
            <a:r>
              <a:rPr b="1" i="0" lang="en-US" sz="24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Date:</a:t>
            </a:r>
            <a:r>
              <a:rPr b="0" i="0" lang="en-US" sz="24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[Current Date]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07343"/>
            <a:ext cx="5238750" cy="462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07343"/>
            <a:ext cx="5238750" cy="462438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/>
          <p:nvPr/>
        </p:nvSpPr>
        <p:spPr>
          <a:xfrm>
            <a:off x="971550" y="2007393"/>
            <a:ext cx="46605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6781800" y="2007393"/>
            <a:ext cx="46605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Last Week's Recap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1257300" y="2578893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Motivation: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[Brief placeholder explaining why this research is being conducted].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1257300" y="3392090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Purpose: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[Brief placeholder outlining the main goal or hypothesis].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257300" y="4205287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Target Venue: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[Placeholder for Journal / Conference Name].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1257300" y="5018484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Deadline (DDL):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[Placeholder for Target Submission Date].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067550" y="2578893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key discussion points from the previous 1:1 meeting].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067550" y="3392090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primary feedback or guidance received from advisor].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067550" y="4205287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specific action items set during the last session].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067550" y="5018484"/>
            <a:ext cx="4152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decisions made regarding methodology or scope].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257889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71550" y="339209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71550" y="420528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501848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81800" y="257889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81800" y="339209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781800" y="420528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81800" y="5018484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Context &amp; Recap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1333500" y="1294060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000250" y="1532185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[Category: e.g., Literature, Experiments, Writing]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for a completed task, milestone, or deliverable achieved this past week].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333500" y="1294060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333500" y="3044428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000250" y="3282553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[Category: e.g., Data Processing, Coding, Setup]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for another completed task, detailing the specific outcome or output generated].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1333500" y="3044428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1333500" y="4794795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000250" y="5032920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[Category: e.g., Analysis, Review, Administrative]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for a final completed item, indicating readiness for the next phase].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333500" y="4794795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15274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32777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502815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31298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Completed Tasks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1333500" y="1294060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2000250" y="1532185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[Active Task 1]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describing current ongoing work, what is being tested, written, or analyzed right now].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1333500" y="1294060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333500" y="3044428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2000250" y="3282553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[Active Task 2]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for an ongoing process that spans multiple weeks, noting current status or percentage complete].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333500" y="3044428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1333500" y="4794795"/>
            <a:ext cx="9525000" cy="1559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000250" y="5032920"/>
            <a:ext cx="8572500" cy="1083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[Active Task 3]</a:t>
            </a: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[General placeholder for collaborative efforts or pending items waiting on external inputs/results].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1333500" y="4794795"/>
            <a:ext cx="57150" cy="1559867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15274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32777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775" y="5028158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31298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 Progress / Ongoing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436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1743670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Explanation: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99097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Takeaway Message: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57250" y="2221706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describing the methodology used to generate the adjacent figure or table].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57250" y="3034903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highlighting the specific variables, axes, or conditions presented in the data].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57250" y="446901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defining the core insight or conclusion drawn from this specific set of results].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57250" y="528220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explaining how this result impacts the overall project direction or next steps].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25" y="3548657"/>
            <a:ext cx="28956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2221706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3034903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469010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282207"/>
            <a:ext cx="209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Figure / Table Review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1" lang="en-US" sz="37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Figure / Table Review</a:t>
            </a:r>
            <a:endParaRPr b="1" sz="37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69" name="Google Shape;169;p19"/>
          <p:cNvGrpSpPr/>
          <p:nvPr/>
        </p:nvGrpSpPr>
        <p:grpSpPr>
          <a:xfrm>
            <a:off x="571500" y="1714500"/>
            <a:ext cx="11049000" cy="4572000"/>
            <a:chOff x="571500" y="1714500"/>
            <a:chExt cx="11049000" cy="4572000"/>
          </a:xfrm>
        </p:grpSpPr>
        <p:sp>
          <p:nvSpPr>
            <p:cNvPr id="170" name="Google Shape;170;p19"/>
            <p:cNvSpPr/>
            <p:nvPr/>
          </p:nvSpPr>
          <p:spPr>
            <a:xfrm>
              <a:off x="571500" y="1714500"/>
              <a:ext cx="11049000" cy="4572000"/>
            </a:xfrm>
            <a:prstGeom prst="roundRect">
              <a:avLst>
                <a:gd fmla="val 2500" name="adj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952500" y="2095500"/>
              <a:ext cx="1028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-US" sz="22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Explanation/ Takeaway Message:</a:t>
              </a:r>
              <a:endParaRPr b="1" sz="22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952500" y="2667000"/>
              <a:ext cx="1028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5088"/>
                </a:buClr>
                <a:buSzPts val="1600"/>
                <a:buFont typeface="DM Sans"/>
                <a:buChar char="●"/>
              </a:pPr>
              <a:r>
                <a:rPr b="1" lang="en-US" sz="16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→</a:t>
              </a:r>
              <a:r>
                <a:rPr b="0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 [Placeholder describing the methodology used to generate the adjacent figure or table].</a:t>
              </a:r>
              <a:endParaRPr b="0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1500"/>
                </a:spcAft>
                <a:buClr>
                  <a:srgbClr val="005088"/>
                </a:buClr>
                <a:buSzPts val="1600"/>
                <a:buFont typeface="DM Sans"/>
                <a:buChar char="●"/>
              </a:pPr>
              <a:r>
                <a:rPr b="1" lang="en-US" sz="16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→</a:t>
              </a:r>
              <a:r>
                <a:rPr b="0" lang="en-US" sz="16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 [Placeholder highlighting the specific variables, axes, or conditions presented in the data].</a:t>
              </a:r>
              <a:endParaRPr b="0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/>
        </p:nvSpPr>
        <p:spPr>
          <a:xfrm>
            <a:off x="571500" y="571500"/>
            <a:ext cx="11049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Figure / Table Review</a:t>
            </a:r>
            <a:endParaRPr b="1" sz="375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Figure 1.1: Parameter Variance &amp; Performance across Experimental Iterations</a:t>
            </a:r>
            <a:endParaRPr b="1" i="0" sz="1650" u="none" strike="noStrik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762000" y="1809750"/>
            <a:ext cx="10668000" cy="4381500"/>
            <a:chOff x="762000" y="1809750"/>
            <a:chExt cx="10668000" cy="4381500"/>
          </a:xfrm>
        </p:grpSpPr>
        <p:sp>
          <p:nvSpPr>
            <p:cNvPr id="180" name="Google Shape;180;p20"/>
            <p:cNvSpPr/>
            <p:nvPr/>
          </p:nvSpPr>
          <p:spPr>
            <a:xfrm>
              <a:off x="762000" y="1809750"/>
              <a:ext cx="106680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0050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20"/>
            <p:cNvGrpSpPr/>
            <p:nvPr/>
          </p:nvGrpSpPr>
          <p:grpSpPr>
            <a:xfrm>
              <a:off x="1714500" y="2381250"/>
              <a:ext cx="8382000" cy="2676600"/>
              <a:chOff x="1714500" y="2381250"/>
              <a:chExt cx="8382000" cy="2676600"/>
            </a:xfrm>
          </p:grpSpPr>
          <p:pic>
            <p:nvPicPr>
              <p:cNvPr id="182" name="Google Shape;182;p20"/>
              <p:cNvPicPr preferRelativeResize="0"/>
              <p:nvPr/>
            </p:nvPicPr>
            <p:blipFill rotWithShape="1">
              <a:blip r:embed="rId4">
                <a:alphaModFix/>
              </a:blip>
              <a:srcRect b="11626" l="0" r="0" t="11634"/>
              <a:stretch/>
            </p:blipFill>
            <p:spPr>
              <a:xfrm>
                <a:off x="1714500" y="2381250"/>
                <a:ext cx="8382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3" name="Google Shape;183;p20"/>
              <p:cNvPicPr preferRelativeResize="0"/>
              <p:nvPr/>
            </p:nvPicPr>
            <p:blipFill rotWithShape="1">
              <a:blip r:embed="rId4">
                <a:alphaModFix/>
              </a:blip>
              <a:srcRect b="11626" l="0" r="0" t="11634"/>
              <a:stretch/>
            </p:blipFill>
            <p:spPr>
              <a:xfrm>
                <a:off x="1714500" y="3048000"/>
                <a:ext cx="8382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20"/>
              <p:cNvPicPr preferRelativeResize="0"/>
              <p:nvPr/>
            </p:nvPicPr>
            <p:blipFill rotWithShape="1">
              <a:blip r:embed="rId4">
                <a:alphaModFix/>
              </a:blip>
              <a:srcRect b="11626" l="0" r="0" t="11634"/>
              <a:stretch/>
            </p:blipFill>
            <p:spPr>
              <a:xfrm>
                <a:off x="1714500" y="3714750"/>
                <a:ext cx="8382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" name="Google Shape;185;p20"/>
              <p:cNvPicPr preferRelativeResize="0"/>
              <p:nvPr/>
            </p:nvPicPr>
            <p:blipFill rotWithShape="1">
              <a:blip r:embed="rId4">
                <a:alphaModFix/>
              </a:blip>
              <a:srcRect b="11626" l="0" r="0" t="11634"/>
              <a:stretch/>
            </p:blipFill>
            <p:spPr>
              <a:xfrm>
                <a:off x="1714500" y="4381500"/>
                <a:ext cx="8382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" name="Google Shape;186;p20"/>
              <p:cNvPicPr preferRelativeResize="0"/>
              <p:nvPr/>
            </p:nvPicPr>
            <p:blipFill rotWithShape="1">
              <a:blip r:embed="rId4">
                <a:alphaModFix/>
              </a:blip>
              <a:srcRect b="11626" l="0" r="0" t="11634"/>
              <a:stretch/>
            </p:blipFill>
            <p:spPr>
              <a:xfrm>
                <a:off x="1714500" y="5048250"/>
                <a:ext cx="83820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7" name="Google Shape;187;p20"/>
            <p:cNvSpPr txBox="1"/>
            <p:nvPr/>
          </p:nvSpPr>
          <p:spPr>
            <a:xfrm>
              <a:off x="857250" y="2286000"/>
              <a:ext cx="762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100%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80%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60%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40%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20%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0%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88" name="Google Shape;188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743200" y="3386138"/>
              <a:ext cx="6400800" cy="130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43200" y="2386013"/>
              <a:ext cx="6400800" cy="2633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0" name="Google Shape;190;p20"/>
            <p:cNvGrpSpPr/>
            <p:nvPr/>
          </p:nvGrpSpPr>
          <p:grpSpPr>
            <a:xfrm>
              <a:off x="1666800" y="3219375"/>
              <a:ext cx="8477400" cy="1562250"/>
              <a:chOff x="1666800" y="3219375"/>
              <a:chExt cx="8477400" cy="1562250"/>
            </a:xfrm>
          </p:grpSpPr>
          <p:sp>
            <p:nvSpPr>
              <p:cNvPr id="191" name="Google Shape;191;p20"/>
              <p:cNvSpPr/>
              <p:nvPr/>
            </p:nvSpPr>
            <p:spPr>
              <a:xfrm>
                <a:off x="1666800" y="468622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3343200" y="431475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0"/>
              <p:cNvSpPr/>
              <p:nvPr/>
            </p:nvSpPr>
            <p:spPr>
              <a:xfrm>
                <a:off x="5019600" y="395280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/>
              <p:nvPr/>
            </p:nvSpPr>
            <p:spPr>
              <a:xfrm>
                <a:off x="6696000" y="405757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0"/>
              <p:cNvSpPr/>
              <p:nvPr/>
            </p:nvSpPr>
            <p:spPr>
              <a:xfrm>
                <a:off x="8372400" y="359085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10048800" y="321937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005088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20"/>
            <p:cNvGrpSpPr/>
            <p:nvPr/>
          </p:nvGrpSpPr>
          <p:grpSpPr>
            <a:xfrm>
              <a:off x="1666800" y="2124000"/>
              <a:ext cx="8477400" cy="3019575"/>
              <a:chOff x="1666800" y="2124000"/>
              <a:chExt cx="8477400" cy="3019575"/>
            </a:xfrm>
          </p:grpSpPr>
          <p:sp>
            <p:nvSpPr>
              <p:cNvPr id="198" name="Google Shape;198;p20"/>
              <p:cNvSpPr/>
              <p:nvPr/>
            </p:nvSpPr>
            <p:spPr>
              <a:xfrm>
                <a:off x="1666800" y="504817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343200" y="395280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0"/>
              <p:cNvSpPr/>
              <p:nvPr/>
            </p:nvSpPr>
            <p:spPr>
              <a:xfrm>
                <a:off x="5019600" y="321937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6696000" y="260025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0"/>
              <p:cNvSpPr/>
              <p:nvPr/>
            </p:nvSpPr>
            <p:spPr>
              <a:xfrm>
                <a:off x="8372400" y="2495475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0"/>
              <p:cNvSpPr/>
              <p:nvPr/>
            </p:nvSpPr>
            <p:spPr>
              <a:xfrm>
                <a:off x="10048800" y="2124000"/>
                <a:ext cx="95400" cy="95400"/>
              </a:xfrm>
              <a:prstGeom prst="ellipse">
                <a:avLst/>
              </a:prstGeom>
              <a:solidFill>
                <a:srgbClr val="FFFFFF"/>
              </a:solidFill>
              <a:ln cap="flat" cmpd="sng" w="28575">
                <a:solidFill>
                  <a:srgbClr val="11CAA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20"/>
            <p:cNvSpPr txBox="1"/>
            <p:nvPr/>
          </p:nvSpPr>
          <p:spPr>
            <a:xfrm>
              <a:off x="1333500" y="5762625"/>
              <a:ext cx="9144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strike="noStrike">
                  <a:solidFill>
                    <a:srgbClr val="64748B"/>
                  </a:solidFill>
                  <a:latin typeface="DM Sans"/>
                  <a:ea typeface="DM Sans"/>
                  <a:cs typeface="DM Sans"/>
                  <a:sym typeface="DM Sans"/>
                </a:rPr>
                <a:t>Phase 1                         Phase 2                         Phase 3                         Phase 4                         Phase 5                         Phase 6</a:t>
              </a:r>
              <a:endParaRPr b="0" i="0" sz="1100" u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205" name="Google Shape;205;p20"/>
            <p:cNvGrpSpPr/>
            <p:nvPr/>
          </p:nvGrpSpPr>
          <p:grpSpPr>
            <a:xfrm>
              <a:off x="9239250" y="1952625"/>
              <a:ext cx="1905000" cy="333300"/>
              <a:chOff x="9239250" y="1952625"/>
              <a:chExt cx="1905000" cy="33330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9239250" y="1952625"/>
                <a:ext cx="1905000" cy="333300"/>
              </a:xfrm>
              <a:prstGeom prst="roundRect">
                <a:avLst>
                  <a:gd fmla="val 1713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9372600" y="2062163"/>
                <a:ext cx="114300" cy="114300"/>
              </a:xfrm>
              <a:prstGeom prst="ellipse">
                <a:avLst/>
              </a:prstGeom>
              <a:solidFill>
                <a:srgbClr val="00508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9544050" y="2028825"/>
                <a:ext cx="666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950" u="none" strike="noStrike">
                    <a:solidFill>
                      <a:srgbClr val="1E293B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Control</a:t>
                </a:r>
                <a:endParaRPr b="1" i="0" sz="950" u="none" strike="noStrike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10229850" y="2062163"/>
                <a:ext cx="114300" cy="114300"/>
              </a:xfrm>
              <a:prstGeom prst="ellipse">
                <a:avLst/>
              </a:prstGeom>
              <a:solidFill>
                <a:srgbClr val="11CA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0"/>
              <p:cNvSpPr txBox="1"/>
              <p:nvPr/>
            </p:nvSpPr>
            <p:spPr>
              <a:xfrm>
                <a:off x="10401300" y="2028825"/>
                <a:ext cx="6669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879" u="none" strike="noStrike">
                    <a:solidFill>
                      <a:srgbClr val="1E293B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Active Test</a:t>
                </a:r>
                <a:endParaRPr b="1" i="0" sz="879" u="none" strike="noStrike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1935"/>
            <a:ext cx="3429000" cy="4495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671935"/>
            <a:ext cx="3429000" cy="4495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671935"/>
            <a:ext cx="3429000" cy="44952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805815" y="2995910"/>
            <a:ext cx="29603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Technical / Methodological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76300" y="394841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[General placeholder for challenges related to experimental setup, code debugging, or data collection issues].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15815" y="2995910"/>
            <a:ext cx="29603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Conceptual / Literature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4686300" y="394841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[General placeholder for areas needing theoretical clarity, paper structuring advice, or help interpreting confusing results].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425815" y="2995910"/>
            <a:ext cx="29603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Resources / Administrative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496300" y="3948410"/>
            <a:ext cx="281940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[General placeholder for requests regarding lab access, computing resources, funding, or necessary approvals].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4062" y="213866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0725" y="2138660"/>
            <a:ext cx="5905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44062" y="2138660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Things Need Support &amp; Blockers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571500" y="4090987"/>
            <a:ext cx="11049000" cy="381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07968" y="4443412"/>
            <a:ext cx="26683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Short Term: Next Week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571500" y="5129212"/>
            <a:ext cx="254124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immediate actionable goals to be completed before the next 1:1 meeting].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3343888" y="1902618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Short Term: Month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3407419" y="2293143"/>
            <a:ext cx="254124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goals expected to be accomplished within the next 3-4 weeks].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6179808" y="4443412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Long Term: Milestone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243339" y="4833937"/>
            <a:ext cx="254124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a major project milestone required before finalizing the manuscript/project].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015728" y="1902618"/>
            <a:ext cx="26683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Target DDL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079259" y="2293143"/>
            <a:ext cx="254124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[Placeholder for the final deadline for submission, conference, or committee review].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727820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47625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563740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47625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399659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47625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10235579" y="39957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F0DF"/>
          </a:solidFill>
          <a:ln cap="flat" cmpd="sng" w="47625">
            <a:solidFill>
              <a:srgbClr val="11C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Plans &amp; Timeline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/>
        </p:nvSpPr>
        <p:spPr>
          <a:xfrm>
            <a:off x="295200" y="43858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Plan for the Next Week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